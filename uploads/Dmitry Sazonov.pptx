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embeddedFontLst>
    <p:embeddedFont>
      <p:font typeface="Play"/>
      <p:regular r:id="rId16"/>
      <p:bold r:id="rId17"/>
    </p:embeddedFont>
    <p:embeddedFont>
      <p:font typeface="Roboto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.fntdata"/><Relationship Id="rId6" Type="http://schemas.openxmlformats.org/officeDocument/2006/relationships/slide" Target="slides/slide1.xml"/><Relationship Id="rId18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480f313c095a370b_7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480f313c095a370b_7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16133e15f88e048a_1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h16133e15f88e048a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16133e15f88e048a_1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16133e15f88e048a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16133e15f88e048a_1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16133e15f88e048a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16133e15f88e048a_1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16133e15f88e048a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480f313c095a370b_7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h480f313c095a370b_7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1201400" y="6473952"/>
            <a:ext cx="365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56A6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658368" y="986057"/>
            <a:ext cx="10424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81B1F"/>
                </a:solidFill>
                <a:latin typeface="Play"/>
                <a:ea typeface="Play"/>
                <a:cs typeface="Play"/>
                <a:sym typeface="Play"/>
              </a:rPr>
              <a:t>Как я превращаю сложные процессы</a:t>
            </a:r>
            <a:br>
              <a:rPr b="1" i="0" lang="en-US" sz="3400" u="none" cap="none" strike="noStrike">
                <a:solidFill>
                  <a:srgbClr val="181B1F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i="0" lang="en-US" sz="3400" u="none" cap="none" strike="noStrike">
                <a:solidFill>
                  <a:srgbClr val="181B1F"/>
                </a:solidFill>
                <a:latin typeface="Play"/>
                <a:ea typeface="Play"/>
                <a:cs typeface="Play"/>
                <a:sym typeface="Play"/>
              </a:rPr>
              <a:t>в работающие системы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53875" y="4534850"/>
            <a:ext cx="10616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46A70"/>
                </a:solidFill>
                <a:latin typeface="Arial"/>
                <a:ea typeface="Arial"/>
                <a:cs typeface="Arial"/>
                <a:sym typeface="Arial"/>
              </a:rPr>
              <a:t>Два кейса: рост продаж через данные и масштабирование операци</a:t>
            </a:r>
            <a:r>
              <a:rPr lang="en-US" sz="2000">
                <a:solidFill>
                  <a:srgbClr val="646A70"/>
                </a:solidFill>
              </a:rPr>
              <a:t>онных процессов</a:t>
            </a:r>
            <a:r>
              <a:rPr b="0" i="0" lang="en-US" sz="2000" u="none" cap="none" strike="noStrike">
                <a:solidFill>
                  <a:srgbClr val="646A70"/>
                </a:solidFill>
                <a:latin typeface="Arial"/>
                <a:ea typeface="Arial"/>
                <a:cs typeface="Arial"/>
                <a:sym typeface="Arial"/>
              </a:rPr>
              <a:t> без пропорционального роста штата.</a:t>
            </a:r>
            <a:endParaRPr sz="1700"/>
          </a:p>
        </p:txBody>
      </p:sp>
      <p:sp>
        <p:nvSpPr>
          <p:cNvPr id="87" name="Google Shape;87;p13"/>
          <p:cNvSpPr/>
          <p:nvPr/>
        </p:nvSpPr>
        <p:spPr>
          <a:xfrm>
            <a:off x="653875" y="2357927"/>
            <a:ext cx="2395800" cy="149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8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818467" y="2579351"/>
            <a:ext cx="41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5A58E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700"/>
          </a:p>
        </p:txBody>
      </p:sp>
      <p:sp>
        <p:nvSpPr>
          <p:cNvPr id="89" name="Google Shape;89;p13"/>
          <p:cNvSpPr txBox="1"/>
          <p:nvPr/>
        </p:nvSpPr>
        <p:spPr>
          <a:xfrm>
            <a:off x="818467" y="3022200"/>
            <a:ext cx="196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1B1F"/>
                </a:solidFill>
                <a:latin typeface="Arial"/>
                <a:ea typeface="Arial"/>
                <a:cs typeface="Arial"/>
                <a:sym typeface="Arial"/>
              </a:rPr>
              <a:t>Разобрать процесс</a:t>
            </a:r>
            <a:endParaRPr sz="1700"/>
          </a:p>
        </p:txBody>
      </p:sp>
      <p:sp>
        <p:nvSpPr>
          <p:cNvPr id="90" name="Google Shape;90;p13"/>
          <p:cNvSpPr/>
          <p:nvPr/>
        </p:nvSpPr>
        <p:spPr>
          <a:xfrm>
            <a:off x="3397075" y="2357927"/>
            <a:ext cx="2395800" cy="149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8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561667" y="2579351"/>
            <a:ext cx="41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5A58E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700"/>
          </a:p>
        </p:txBody>
      </p:sp>
      <p:sp>
        <p:nvSpPr>
          <p:cNvPr id="92" name="Google Shape;92;p13"/>
          <p:cNvSpPr txBox="1"/>
          <p:nvPr/>
        </p:nvSpPr>
        <p:spPr>
          <a:xfrm>
            <a:off x="3561667" y="3022200"/>
            <a:ext cx="196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1B1F"/>
                </a:solidFill>
                <a:latin typeface="Arial"/>
                <a:ea typeface="Arial"/>
                <a:cs typeface="Arial"/>
                <a:sym typeface="Arial"/>
              </a:rPr>
              <a:t>Найти узкое место</a:t>
            </a:r>
            <a:endParaRPr sz="1700"/>
          </a:p>
        </p:txBody>
      </p:sp>
      <p:sp>
        <p:nvSpPr>
          <p:cNvPr id="93" name="Google Shape;93;p13"/>
          <p:cNvSpPr/>
          <p:nvPr/>
        </p:nvSpPr>
        <p:spPr>
          <a:xfrm>
            <a:off x="6140275" y="2357927"/>
            <a:ext cx="2395800" cy="149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8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6304867" y="2579351"/>
            <a:ext cx="41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5A58E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700"/>
          </a:p>
        </p:txBody>
      </p:sp>
      <p:sp>
        <p:nvSpPr>
          <p:cNvPr id="95" name="Google Shape;95;p13"/>
          <p:cNvSpPr txBox="1"/>
          <p:nvPr/>
        </p:nvSpPr>
        <p:spPr>
          <a:xfrm>
            <a:off x="6304867" y="3022200"/>
            <a:ext cx="196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81B1F"/>
                </a:solidFill>
                <a:latin typeface="Arial"/>
                <a:ea typeface="Arial"/>
                <a:cs typeface="Arial"/>
                <a:sym typeface="Arial"/>
              </a:rPr>
              <a:t>Собрать MVP</a:t>
            </a:r>
            <a:endParaRPr sz="1700"/>
          </a:p>
        </p:txBody>
      </p:sp>
      <p:sp>
        <p:nvSpPr>
          <p:cNvPr id="96" name="Google Shape;96;p13"/>
          <p:cNvSpPr/>
          <p:nvPr/>
        </p:nvSpPr>
        <p:spPr>
          <a:xfrm>
            <a:off x="8883475" y="2357927"/>
            <a:ext cx="2395800" cy="149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8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9048067" y="2579351"/>
            <a:ext cx="41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5A58E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700"/>
          </a:p>
        </p:txBody>
      </p:sp>
      <p:sp>
        <p:nvSpPr>
          <p:cNvPr id="98" name="Google Shape;98;p13"/>
          <p:cNvSpPr txBox="1"/>
          <p:nvPr/>
        </p:nvSpPr>
        <p:spPr>
          <a:xfrm>
            <a:off x="9048075" y="3022200"/>
            <a:ext cx="202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81B1F"/>
                </a:solidFill>
              </a:rPr>
              <a:t>Масштабировать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/>
        </p:nvSpPr>
        <p:spPr>
          <a:xfrm>
            <a:off x="658368" y="384048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250E0"/>
                </a:solidFill>
                <a:latin typeface="Arial"/>
                <a:ea typeface="Arial"/>
                <a:cs typeface="Arial"/>
                <a:sym typeface="Arial"/>
              </a:rPr>
              <a:t>КЕЙС 1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554525" y="232175"/>
            <a:ext cx="862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1B1F"/>
                </a:solidFill>
                <a:latin typeface="Play"/>
                <a:ea typeface="Play"/>
                <a:cs typeface="Play"/>
                <a:sym typeface="Play"/>
              </a:rPr>
              <a:t>Из разрозненных данных в инструмент продаж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405175" y="1534375"/>
            <a:ext cx="3616800" cy="128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225">
            <a:solidFill>
              <a:srgbClr val="D8D8D3"/>
            </a:solidFill>
            <a:prstDash val="solid"/>
            <a:round/>
            <a:headEnd len="sm" w="sm" type="none"/>
            <a:tailEnd len="sm" w="sm" type="none"/>
          </a:ln>
          <a:effectLst>
            <a:outerShdw blurRad="29092" rotWithShape="0" dir="5400000" dist="16728">
              <a:srgbClr val="000000">
                <a:alpha val="34902"/>
              </a:srgbClr>
            </a:outerShdw>
          </a:effectLst>
        </p:spPr>
        <p:txBody>
          <a:bodyPr anchorCtr="0" anchor="ctr" bIns="33225" lIns="66500" spcFirstLastPara="1" rIns="66500" wrap="square" tIns="33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542279" y="1700261"/>
            <a:ext cx="109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24646"/>
                </a:solidFill>
                <a:latin typeface="Arial"/>
                <a:ea typeface="Arial"/>
                <a:cs typeface="Arial"/>
                <a:sym typeface="Arial"/>
              </a:rPr>
              <a:t>ПРОБЛЕМА</a:t>
            </a:r>
            <a:endParaRPr sz="1600"/>
          </a:p>
        </p:txBody>
      </p:sp>
      <p:sp>
        <p:nvSpPr>
          <p:cNvPr id="107" name="Google Shape;107;p14"/>
          <p:cNvSpPr txBox="1"/>
          <p:nvPr/>
        </p:nvSpPr>
        <p:spPr>
          <a:xfrm>
            <a:off x="478922" y="1907700"/>
            <a:ext cx="34692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3225" lIns="66500" spcFirstLastPara="1" rIns="66500" wrap="square" tIns="33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8" u="none" cap="none" strike="noStrike">
                <a:solidFill>
                  <a:srgbClr val="171B1F"/>
                </a:solidFill>
                <a:latin typeface="Arial"/>
                <a:ea typeface="Arial"/>
                <a:cs typeface="Arial"/>
                <a:sym typeface="Arial"/>
              </a:rPr>
              <a:t>Данные </a:t>
            </a:r>
            <a:r>
              <a:rPr b="1" lang="en-US" sz="1018">
                <a:solidFill>
                  <a:srgbClr val="171B1F"/>
                </a:solidFill>
              </a:rPr>
              <a:t>собранные</a:t>
            </a:r>
            <a:r>
              <a:rPr b="1" i="0" lang="en-US" sz="1018" u="none" cap="none" strike="noStrike">
                <a:solidFill>
                  <a:srgbClr val="171B1F"/>
                </a:solidFill>
                <a:latin typeface="Arial"/>
                <a:ea typeface="Arial"/>
                <a:cs typeface="Arial"/>
                <a:sym typeface="Arial"/>
              </a:rPr>
              <a:t> в маркетин</a:t>
            </a:r>
            <a:r>
              <a:rPr b="1" lang="en-US" sz="1018">
                <a:solidFill>
                  <a:srgbClr val="171B1F"/>
                </a:solidFill>
              </a:rPr>
              <a:t>говых</a:t>
            </a:r>
            <a:r>
              <a:rPr b="1" i="0" lang="en-US" sz="1018" u="none" cap="none" strike="noStrike">
                <a:solidFill>
                  <a:srgbClr val="171B1F"/>
                </a:solidFill>
                <a:latin typeface="Arial"/>
                <a:ea typeface="Arial"/>
                <a:cs typeface="Arial"/>
                <a:sym typeface="Arial"/>
              </a:rPr>
              <a:t> квизах и звонках, на встрече не использовались </a:t>
            </a:r>
            <a:r>
              <a:rPr b="1" lang="en-US" sz="1018">
                <a:solidFill>
                  <a:srgbClr val="171B1F"/>
                </a:solidFill>
              </a:rPr>
              <a:t>продавцом, но потенциально могли стать толчком к росту продаж</a:t>
            </a:r>
            <a:endParaRPr sz="1018"/>
          </a:p>
        </p:txBody>
      </p:sp>
      <p:sp>
        <p:nvSpPr>
          <p:cNvPr id="108" name="Google Shape;108;p14"/>
          <p:cNvSpPr/>
          <p:nvPr/>
        </p:nvSpPr>
        <p:spPr>
          <a:xfrm>
            <a:off x="4171125" y="1601725"/>
            <a:ext cx="3830700" cy="1205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1100">
            <a:solidFill>
              <a:srgbClr val="D8D8D3"/>
            </a:solidFill>
            <a:prstDash val="solid"/>
            <a:round/>
            <a:headEnd len="sm" w="sm" type="none"/>
            <a:tailEnd len="sm" w="sm" type="none"/>
          </a:ln>
          <a:effectLst>
            <a:outerShdw blurRad="34991" rotWithShape="0" dir="5400000" dist="20120">
              <a:srgbClr val="000000">
                <a:alpha val="34902"/>
              </a:srgbClr>
            </a:outerShdw>
          </a:effectLst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4297822" y="1745921"/>
            <a:ext cx="8643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975" lIns="79975" spcFirstLastPara="1" rIns="79975" wrap="square" tIns="39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250E0"/>
                </a:solidFill>
                <a:latin typeface="Arial"/>
                <a:ea typeface="Arial"/>
                <a:cs typeface="Arial"/>
                <a:sym typeface="Arial"/>
              </a:rPr>
              <a:t>РЕШЕНИЕ</a:t>
            </a:r>
            <a:endParaRPr sz="1400"/>
          </a:p>
        </p:txBody>
      </p:sp>
      <p:sp>
        <p:nvSpPr>
          <p:cNvPr id="110" name="Google Shape;110;p14"/>
          <p:cNvSpPr txBox="1"/>
          <p:nvPr/>
        </p:nvSpPr>
        <p:spPr>
          <a:xfrm>
            <a:off x="4297835" y="2037948"/>
            <a:ext cx="33060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975" lIns="79975" spcFirstLastPara="1" rIns="79975" wrap="square" tIns="39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5">
                <a:solidFill>
                  <a:srgbClr val="171B1F"/>
                </a:solidFill>
              </a:rPr>
              <a:t>Собрал инструмент который </a:t>
            </a:r>
            <a:r>
              <a:rPr b="1" lang="en-US" sz="1225">
                <a:solidFill>
                  <a:srgbClr val="171B1F"/>
                </a:solidFill>
              </a:rPr>
              <a:t>объединял информацию о клиенте, сегментировал и выдавал продукт под конкретный </a:t>
            </a:r>
            <a:r>
              <a:rPr b="1" i="0" lang="en-US" sz="1225" u="none" cap="none" strike="noStrike">
                <a:solidFill>
                  <a:srgbClr val="171B1F"/>
                </a:solidFill>
                <a:latin typeface="Arial"/>
                <a:ea typeface="Arial"/>
                <a:cs typeface="Arial"/>
                <a:sym typeface="Arial"/>
              </a:rPr>
              <a:t>профиль </a:t>
            </a:r>
            <a:endParaRPr sz="1225"/>
          </a:p>
        </p:txBody>
      </p:sp>
      <p:sp>
        <p:nvSpPr>
          <p:cNvPr id="111" name="Google Shape;111;p14"/>
          <p:cNvSpPr/>
          <p:nvPr/>
        </p:nvSpPr>
        <p:spPr>
          <a:xfrm>
            <a:off x="8065725" y="1627966"/>
            <a:ext cx="4864500" cy="115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8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8291047" y="1761600"/>
            <a:ext cx="1803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69777"/>
                </a:solidFill>
                <a:latin typeface="Arial"/>
                <a:ea typeface="Arial"/>
                <a:cs typeface="Arial"/>
                <a:sym typeface="Arial"/>
              </a:rPr>
              <a:t>ЭФФЕКТ</a:t>
            </a:r>
            <a:endParaRPr sz="1700"/>
          </a:p>
        </p:txBody>
      </p:sp>
      <p:sp>
        <p:nvSpPr>
          <p:cNvPr id="113" name="Google Shape;113;p14"/>
          <p:cNvSpPr txBox="1"/>
          <p:nvPr/>
        </p:nvSpPr>
        <p:spPr>
          <a:xfrm>
            <a:off x="8291052" y="2043373"/>
            <a:ext cx="458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B1F"/>
                </a:solidFill>
                <a:latin typeface="Arial"/>
                <a:ea typeface="Arial"/>
                <a:cs typeface="Arial"/>
                <a:sym typeface="Arial"/>
              </a:rPr>
              <a:t>Менеджер получает релевантный продукт и сценарий разговора ещё до ключевой встречи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56A6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title="Снимок экрана — 2026-10-07 в 22.03.58.png"/>
          <p:cNvPicPr preferRelativeResize="0"/>
          <p:nvPr/>
        </p:nvPicPr>
        <p:blipFill rotWithShape="1">
          <a:blip r:embed="rId3">
            <a:alphaModFix/>
          </a:blip>
          <a:srcRect b="0" l="0" r="64025" t="0"/>
          <a:stretch/>
        </p:blipFill>
        <p:spPr>
          <a:xfrm>
            <a:off x="586751" y="298775"/>
            <a:ext cx="7571801" cy="624245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8158550" y="1237850"/>
            <a:ext cx="3621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Данные из CRM:</a:t>
            </a:r>
            <a:r>
              <a:rPr lang="en-US" sz="1100">
                <a:solidFill>
                  <a:schemeClr val="dk1"/>
                </a:solidFill>
              </a:rPr>
              <a:t> в инструмент автоматически подтягивается вся доступная информация об ученике.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title="Снимок экрана — 2026-10-07 в 22.03.58.png"/>
          <p:cNvPicPr preferRelativeResize="0"/>
          <p:nvPr/>
        </p:nvPicPr>
        <p:blipFill rotWithShape="1">
          <a:blip r:embed="rId3">
            <a:alphaModFix/>
          </a:blip>
          <a:srcRect b="0" l="36125" r="33164" t="0"/>
          <a:stretch/>
        </p:blipFill>
        <p:spPr>
          <a:xfrm>
            <a:off x="742475" y="287075"/>
            <a:ext cx="3545774" cy="34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4975525" y="571400"/>
            <a:ext cx="5329200" cy="12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Результаты диагностики:</a:t>
            </a:r>
            <a:r>
              <a:rPr lang="en-US" sz="1100">
                <a:solidFill>
                  <a:schemeClr val="dk1"/>
                </a:solidFill>
              </a:rPr>
              <a:t> после встречи система дополняет профиль глубокой оценкой навыков ребёнка.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992450" y="4449825"/>
            <a:ext cx="5189700" cy="12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Финансовая сила:</a:t>
            </a:r>
            <a:r>
              <a:rPr lang="en-US" sz="1100">
                <a:solidFill>
                  <a:schemeClr val="dk1"/>
                </a:solidFill>
              </a:rPr>
              <a:t> продавцу остаётся подтвердить сегмент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High / Middle / Low</a:t>
            </a:r>
            <a:r>
              <a:rPr lang="en-US" sz="1100">
                <a:solidFill>
                  <a:schemeClr val="dk1"/>
                </a:solidFill>
              </a:rPr>
              <a:t> на основе диалога с клиентом.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7103350" y="4493050"/>
            <a:ext cx="3074400" cy="79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кнопка:</a:t>
            </a:r>
            <a:r>
              <a:rPr lang="en-US" sz="1100">
                <a:solidFill>
                  <a:schemeClr val="dk1"/>
                </a:solidFill>
              </a:rPr>
              <a:t> выпадающий список —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High / Middle / Low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title="IMAGE 2026-10-07 12:18:03.jpg"/>
          <p:cNvPicPr preferRelativeResize="0"/>
          <p:nvPr/>
        </p:nvPicPr>
        <p:blipFill rotWithShape="1">
          <a:blip r:embed="rId3">
            <a:alphaModFix/>
          </a:blip>
          <a:srcRect b="0" l="0" r="51555" t="0"/>
          <a:stretch/>
        </p:blipFill>
        <p:spPr>
          <a:xfrm>
            <a:off x="4462400" y="1593176"/>
            <a:ext cx="4286950" cy="4929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02375" y="268975"/>
            <a:ext cx="7716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7" title="Снимок экрана — 2026-10-07 в 22.15.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29525" y="1259550"/>
            <a:ext cx="2926225" cy="526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357125" y="1593175"/>
            <a:ext cx="40251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Результат для Sales: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На основе </a:t>
            </a:r>
            <a:r>
              <a:rPr b="1" lang="en-US" sz="1100">
                <a:solidFill>
                  <a:schemeClr val="dk1"/>
                </a:solidFill>
              </a:rPr>
              <a:t>возраста ребёнка + целей + уровня навыков + финансовой силы семьи</a:t>
            </a:r>
            <a:r>
              <a:rPr lang="en-US" sz="1100">
                <a:solidFill>
                  <a:schemeClr val="dk1"/>
                </a:solidFill>
              </a:rPr>
              <a:t> система автоматически формирует персональную веб-страницу — фактически готовый </a:t>
            </a:r>
            <a:r>
              <a:rPr b="1" lang="en-US" sz="1100">
                <a:solidFill>
                  <a:schemeClr val="dk1"/>
                </a:solidFill>
              </a:rPr>
              <a:t>сценарий продажи</a:t>
            </a:r>
            <a:r>
              <a:rPr lang="en-US" sz="1100">
                <a:solidFill>
                  <a:schemeClr val="dk1"/>
                </a:solidFill>
              </a:rPr>
              <a:t>, который включает: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Учебный план → оценку навыков → рекомендации по программе → подходящий пакет → рекомендации по подбору преподавателя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То есть продавец получает не просто набор данных о клиенте, а </a:t>
            </a:r>
            <a:r>
              <a:rPr b="1" lang="en-US" sz="1100">
                <a:solidFill>
                  <a:schemeClr val="dk1"/>
                </a:solidFill>
              </a:rPr>
              <a:t>готовое персонализированное предложение</a:t>
            </a:r>
            <a:r>
              <a:rPr lang="en-US" sz="1100">
                <a:solidFill>
                  <a:schemeClr val="dk1"/>
                </a:solidFill>
              </a:rPr>
              <a:t>, учитывающее одновременно потребности ребёнка и возможности семьи.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/>
          <p:nvPr/>
        </p:nvSpPr>
        <p:spPr>
          <a:xfrm>
            <a:off x="459025" y="549950"/>
            <a:ext cx="11007300" cy="212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6500">
            <a:solidFill>
              <a:srgbClr val="5250E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676488" y="801550"/>
            <a:ext cx="107898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5A58EB"/>
                </a:solidFill>
              </a:rPr>
              <a:t>РЕЗУЛЬТАТ</a:t>
            </a:r>
            <a:br>
              <a:rPr b="1" i="0" lang="en-US" sz="1900" u="none" cap="none" strike="noStrike">
                <a:solidFill>
                  <a:srgbClr val="171B1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900" u="none" cap="none" strike="noStrike">
                <a:solidFill>
                  <a:srgbClr val="171B1F"/>
                </a:solidFill>
                <a:latin typeface="Arial"/>
                <a:ea typeface="Arial"/>
                <a:cs typeface="Arial"/>
                <a:sym typeface="Arial"/>
              </a:rPr>
              <a:t>Персонализированный подход вместо шаблонной продажи; </a:t>
            </a:r>
            <a:endParaRPr b="1" i="0" sz="1900" u="none" cap="none" strike="noStrike">
              <a:solidFill>
                <a:srgbClr val="171B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71B1F"/>
                </a:solidFill>
                <a:latin typeface="Arial"/>
                <a:ea typeface="Arial"/>
                <a:cs typeface="Arial"/>
                <a:sym typeface="Arial"/>
              </a:rPr>
              <a:t>система </a:t>
            </a:r>
            <a:r>
              <a:rPr b="1" lang="en-US" sz="1900">
                <a:solidFill>
                  <a:srgbClr val="171B1F"/>
                </a:solidFill>
              </a:rPr>
              <a:t>увеличила число продаж</a:t>
            </a:r>
            <a:r>
              <a:rPr b="1" i="0" lang="en-US" sz="1900" u="none" cap="none" strike="noStrike">
                <a:solidFill>
                  <a:srgbClr val="171B1F"/>
                </a:solidFill>
                <a:latin typeface="Arial"/>
                <a:ea typeface="Arial"/>
                <a:cs typeface="Arial"/>
                <a:sym typeface="Arial"/>
              </a:rPr>
              <a:t> более крупных пакетов благодаря </a:t>
            </a:r>
            <a:r>
              <a:rPr b="1" lang="en-US" sz="1900">
                <a:solidFill>
                  <a:srgbClr val="171B1F"/>
                </a:solidFill>
              </a:rPr>
              <a:t>механики </a:t>
            </a:r>
            <a:r>
              <a:rPr b="1" lang="en-US" sz="1900">
                <a:solidFill>
                  <a:srgbClr val="171B1F"/>
                </a:solidFill>
              </a:rPr>
              <a:t>сегментации</a:t>
            </a:r>
            <a:r>
              <a:rPr b="1" lang="en-US" sz="1900">
                <a:solidFill>
                  <a:srgbClr val="171B1F"/>
                </a:solidFill>
              </a:rPr>
              <a:t>,</a:t>
            </a:r>
            <a:r>
              <a:rPr b="1" i="0" lang="en-US" sz="1900" u="none" cap="none" strike="noStrike">
                <a:solidFill>
                  <a:srgbClr val="171B1F"/>
                </a:solidFill>
                <a:latin typeface="Arial"/>
                <a:ea typeface="Arial"/>
                <a:cs typeface="Arial"/>
                <a:sym typeface="Arial"/>
              </a:rPr>
              <a:t> персонализации и </a:t>
            </a:r>
            <a:r>
              <a:rPr b="1" lang="en-US" sz="1900">
                <a:solidFill>
                  <a:srgbClr val="171B1F"/>
                </a:solidFill>
              </a:rPr>
              <a:t>выдачи </a:t>
            </a:r>
            <a:r>
              <a:rPr b="1" lang="en-US" sz="1900">
                <a:solidFill>
                  <a:srgbClr val="171B1F"/>
                </a:solidFill>
              </a:rPr>
              <a:t>подходящего</a:t>
            </a:r>
            <a:r>
              <a:rPr b="1" lang="en-US" sz="1900">
                <a:solidFill>
                  <a:srgbClr val="171B1F"/>
                </a:solidFill>
              </a:rPr>
              <a:t> продукта с длительностью обучения</a:t>
            </a:r>
            <a:r>
              <a:rPr b="1" i="0" lang="en-US" sz="1900" u="none" cap="none" strike="noStrike">
                <a:solidFill>
                  <a:srgbClr val="171B1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/>
          </a:p>
        </p:txBody>
      </p:sp>
      <p:pic>
        <p:nvPicPr>
          <p:cNvPr id="143" name="Google Shape;143;p18" title="Снимок экрана — 2026-10-07 в 01.07.20.png"/>
          <p:cNvPicPr preferRelativeResize="0"/>
          <p:nvPr/>
        </p:nvPicPr>
        <p:blipFill rotWithShape="1">
          <a:blip r:embed="rId3">
            <a:alphaModFix/>
          </a:blip>
          <a:srcRect b="0" l="0" r="33329" t="25323"/>
          <a:stretch/>
        </p:blipFill>
        <p:spPr>
          <a:xfrm>
            <a:off x="4237100" y="3139500"/>
            <a:ext cx="4599998" cy="289872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1017850" y="4087838"/>
            <a:ext cx="3000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Продукт с подключённым инструментом стал одним из драйверов роста выручки, показывая более высокую динамику относительно остальных направлений.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/>
        </p:nvSpPr>
        <p:spPr>
          <a:xfrm>
            <a:off x="658368" y="384048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250E0"/>
                </a:solidFill>
                <a:latin typeface="Arial"/>
                <a:ea typeface="Arial"/>
                <a:cs typeface="Arial"/>
                <a:sym typeface="Arial"/>
              </a:rPr>
              <a:t>КЕЙС 2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1474793" y="247757"/>
            <a:ext cx="10789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1B1F"/>
                </a:solidFill>
                <a:latin typeface="Play"/>
                <a:ea typeface="Play"/>
                <a:cs typeface="Play"/>
                <a:sym typeface="Play"/>
              </a:rPr>
              <a:t>Рост преподавателей без пропорционального роста менеджеров сопровождения и качества преподавателей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658368" y="1417320"/>
            <a:ext cx="1060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56A6F"/>
                </a:solidFill>
                <a:latin typeface="Arial"/>
                <a:ea typeface="Arial"/>
                <a:cs typeface="Arial"/>
                <a:sym typeface="Arial"/>
              </a:rPr>
              <a:t>Вместо масштабирования ручной операционки — единая внутренняя система на автоматизации и регламентах.</a:t>
            </a:r>
            <a:endParaRPr sz="1600"/>
          </a:p>
        </p:txBody>
      </p:sp>
      <p:sp>
        <p:nvSpPr>
          <p:cNvPr id="152" name="Google Shape;152;p19"/>
          <p:cNvSpPr txBox="1"/>
          <p:nvPr/>
        </p:nvSpPr>
        <p:spPr>
          <a:xfrm>
            <a:off x="1478850" y="1943825"/>
            <a:ext cx="66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4646"/>
                </a:solidFill>
                <a:latin typeface="Arial"/>
                <a:ea typeface="Arial"/>
                <a:cs typeface="Arial"/>
                <a:sym typeface="Arial"/>
              </a:rPr>
              <a:t>БЫЛО</a:t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685800" y="2267708"/>
            <a:ext cx="2289000" cy="2880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8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891801" y="2532883"/>
            <a:ext cx="186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71B1F"/>
                </a:solidFill>
              </a:rPr>
              <a:t>100+ таблиц и </a:t>
            </a:r>
            <a:r>
              <a:rPr lang="en-US" sz="1300">
                <a:solidFill>
                  <a:srgbClr val="171B1F"/>
                </a:solidFill>
              </a:rPr>
              <a:t>других</a:t>
            </a:r>
            <a:r>
              <a:rPr lang="en-US" sz="1300">
                <a:solidFill>
                  <a:srgbClr val="171B1F"/>
                </a:solidFill>
              </a:rPr>
              <a:t> документов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928676" y="3047239"/>
            <a:ext cx="1869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71B1F"/>
                </a:solidFill>
              </a:rPr>
              <a:t>Разрозненные чаты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891801" y="3361520"/>
            <a:ext cx="186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71B1F"/>
                </a:solidFill>
              </a:rPr>
              <a:t>Отсутствие регламентов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891801" y="3897325"/>
            <a:ext cx="186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71B1F"/>
                </a:solidFill>
              </a:rPr>
              <a:t>Н</a:t>
            </a:r>
            <a:r>
              <a:rPr b="0" i="0" lang="en-US" sz="1300" u="none" cap="none" strike="noStrike">
                <a:solidFill>
                  <a:srgbClr val="171B1F"/>
                </a:solidFill>
                <a:latin typeface="Arial"/>
                <a:ea typeface="Arial"/>
                <a:cs typeface="Arial"/>
                <a:sym typeface="Arial"/>
              </a:rPr>
              <a:t>епрозрачн</a:t>
            </a:r>
            <a:r>
              <a:rPr lang="en-US" sz="1300">
                <a:solidFill>
                  <a:srgbClr val="171B1F"/>
                </a:solidFill>
              </a:rPr>
              <a:t>ые процессы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876600" y="4433125"/>
            <a:ext cx="1869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71B1F"/>
                </a:solidFill>
              </a:rPr>
              <a:t>Р</a:t>
            </a:r>
            <a:r>
              <a:rPr b="1" i="0" lang="en-US" sz="1300" u="none" cap="none" strike="noStrike">
                <a:solidFill>
                  <a:srgbClr val="171B1F"/>
                </a:solidFill>
                <a:latin typeface="Arial"/>
                <a:ea typeface="Arial"/>
                <a:cs typeface="Arial"/>
                <a:sym typeface="Arial"/>
              </a:rPr>
              <a:t>ост продукта = новый найм менеджер</a:t>
            </a:r>
            <a:r>
              <a:rPr b="1" lang="en-US" sz="1300">
                <a:solidFill>
                  <a:srgbClr val="171B1F"/>
                </a:solidFill>
              </a:rPr>
              <a:t>ов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9889200" y="1943025"/>
            <a:ext cx="699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9777"/>
                </a:solidFill>
                <a:latin typeface="Arial"/>
                <a:ea typeface="Arial"/>
                <a:cs typeface="Arial"/>
                <a:sym typeface="Arial"/>
              </a:rPr>
              <a:t>СТАЛО</a:t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8961499" y="2267708"/>
            <a:ext cx="2559900" cy="2880300"/>
          </a:xfrm>
          <a:prstGeom prst="roundRect">
            <a:avLst>
              <a:gd fmla="val 16667" name="adj"/>
            </a:avLst>
          </a:prstGeom>
          <a:solidFill>
            <a:srgbClr val="E5F4EE"/>
          </a:solidFill>
          <a:ln cap="flat" cmpd="sng" w="12700">
            <a:solidFill>
              <a:srgbClr val="E5F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9177830" y="2532883"/>
            <a:ext cx="212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71B1F"/>
                </a:solidFill>
              </a:rPr>
              <a:t>Единое пространство данных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9177830" y="3017514"/>
            <a:ext cx="212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Прозрачное управление</a:t>
            </a:r>
            <a:endParaRPr sz="1300"/>
          </a:p>
        </p:txBody>
      </p:sp>
      <p:sp>
        <p:nvSpPr>
          <p:cNvPr id="163" name="Google Shape;163;p19"/>
          <p:cNvSpPr txBox="1"/>
          <p:nvPr/>
        </p:nvSpPr>
        <p:spPr>
          <a:xfrm>
            <a:off x="9177830" y="3402095"/>
            <a:ext cx="212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71B1F"/>
                </a:solidFill>
              </a:rPr>
              <a:t>Высвобождение 40% ресурсов сотрудников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9175205" y="4453400"/>
            <a:ext cx="212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Масштабирование без найма (экономия)</a:t>
            </a:r>
            <a:endParaRPr b="1" sz="1300"/>
          </a:p>
        </p:txBody>
      </p:sp>
      <p:sp>
        <p:nvSpPr>
          <p:cNvPr id="165" name="Google Shape;165;p19"/>
          <p:cNvSpPr txBox="1"/>
          <p:nvPr/>
        </p:nvSpPr>
        <p:spPr>
          <a:xfrm>
            <a:off x="9214705" y="3927756"/>
            <a:ext cx="212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71B1F"/>
                </a:solidFill>
              </a:rPr>
              <a:t>Б</a:t>
            </a:r>
            <a:r>
              <a:rPr b="0" i="0" lang="en-US" sz="1300" u="none" cap="none" strike="noStrike">
                <a:solidFill>
                  <a:srgbClr val="171B1F"/>
                </a:solidFill>
                <a:latin typeface="Arial"/>
                <a:ea typeface="Arial"/>
                <a:cs typeface="Arial"/>
                <a:sym typeface="Arial"/>
              </a:rPr>
              <a:t>аза данных для развития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685800" y="5504688"/>
            <a:ext cx="10835640" cy="749808"/>
          </a:xfrm>
          <a:prstGeom prst="roundRect">
            <a:avLst>
              <a:gd fmla="val 16667" name="adj"/>
            </a:avLst>
          </a:prstGeom>
          <a:solidFill>
            <a:srgbClr val="171B1F"/>
          </a:solidFill>
          <a:ln cap="flat" cmpd="sng" w="12700">
            <a:solidFill>
              <a:srgbClr val="171B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932700" y="5696700"/>
            <a:ext cx="714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Ключевой эффект: дальнейший найм менеджеров был остановлен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8027825" y="5724225"/>
            <a:ext cx="3404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</a:rPr>
              <a:t>40 000 $/месяц</a:t>
            </a: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lang="en-US" sz="1700">
                <a:solidFill>
                  <a:srgbClr val="FFFFFF"/>
                </a:solidFill>
              </a:rPr>
              <a:t>480 000$</a:t>
            </a: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/год</a:t>
            </a:r>
            <a:endParaRPr sz="1700"/>
          </a:p>
        </p:txBody>
      </p:sp>
      <p:sp>
        <p:nvSpPr>
          <p:cNvPr id="169" name="Google Shape;169;p19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56A6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/>
        </p:nvSpPr>
        <p:spPr>
          <a:xfrm>
            <a:off x="5115287" y="233125"/>
            <a:ext cx="1869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250E0"/>
                </a:solidFill>
                <a:latin typeface="Arial"/>
                <a:ea typeface="Arial"/>
                <a:cs typeface="Arial"/>
                <a:sym typeface="Arial"/>
              </a:rPr>
              <a:t>ЧТО БЫЛО СОЗДАНО:</a:t>
            </a:r>
            <a:endParaRPr/>
          </a:p>
        </p:txBody>
      </p:sp>
      <p:pic>
        <p:nvPicPr>
          <p:cNvPr id="175" name="Google Shape;175;p20" title="Снимок экрана 2026-03-25 в 18.03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700" y="2117599"/>
            <a:ext cx="3956169" cy="453512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031275" y="4041525"/>
            <a:ext cx="63648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архитектурная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система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портала, </a:t>
            </a:r>
            <a:r>
              <a:rPr lang="en-US" sz="1300">
                <a:solidFill>
                  <a:srgbClr val="656A6F"/>
                </a:solidFill>
              </a:rPr>
              <a:t>которая позволяет улучшать операции и подключать следующие бизнес-функции без пересборки продукта.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619700" y="1466350"/>
            <a:ext cx="7381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Единая архитектура портала для 7 ролей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552075" y="1466350"/>
            <a:ext cx="5050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Спроектирована единая система, которая объединяет процессы </a:t>
            </a:r>
            <a:r>
              <a:rPr b="1" lang="en-US" sz="1100">
                <a:solidFill>
                  <a:schemeClr val="dk1"/>
                </a:solidFill>
              </a:rPr>
              <a:t>7 ролей</a:t>
            </a:r>
            <a:r>
              <a:rPr lang="en-US" sz="1100">
                <a:solidFill>
                  <a:schemeClr val="dk1"/>
                </a:solidFill>
              </a:rPr>
              <a:t> и позволяет данным бесшовно переходить между ними.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/>
        </p:nvSpPr>
        <p:spPr>
          <a:xfrm>
            <a:off x="292050" y="392075"/>
            <a:ext cx="11537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1B1F"/>
                </a:solidFill>
                <a:latin typeface="Play"/>
                <a:ea typeface="Play"/>
                <a:cs typeface="Play"/>
                <a:sym typeface="Play"/>
              </a:rPr>
              <a:t>Система не только снижает нагрузку — она создаёт новый слой данных</a:t>
            </a:r>
            <a:r>
              <a:rPr b="1" lang="en-US" sz="1100">
                <a:solidFill>
                  <a:schemeClr val="dk1"/>
                </a:solidFill>
              </a:rPr>
              <a:t>: от единой базы знаний и автоматизации действий в один клик — к постепенному исключению ручных операций из процесса.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171B1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407325" y="5497725"/>
            <a:ext cx="5698500" cy="1077000"/>
          </a:xfrm>
          <a:prstGeom prst="roundRect">
            <a:avLst>
              <a:gd fmla="val 16667" name="adj"/>
            </a:avLst>
          </a:prstGeom>
          <a:solidFill>
            <a:srgbClr val="EFEFEC"/>
          </a:solidFill>
          <a:ln cap="flat" cmpd="sng" w="12700">
            <a:solidFill>
              <a:srgbClr val="EFE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638349" y="5653175"/>
            <a:ext cx="5203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1B1F"/>
                </a:solidFill>
                <a:latin typeface="Arial"/>
                <a:ea typeface="Arial"/>
                <a:cs typeface="Arial"/>
                <a:sym typeface="Arial"/>
              </a:rPr>
              <a:t>Важно: MVP уже используется; </a:t>
            </a:r>
            <a:r>
              <a:rPr b="1" lang="en-US" sz="1100">
                <a:solidFill>
                  <a:schemeClr val="dk1"/>
                </a:solidFill>
              </a:rPr>
              <a:t>Сотруднику не нужно искать проблему — система сама определяет отклонение, подсвечивает его и инициирует следующий шаг. </a:t>
            </a:r>
            <a:r>
              <a:rPr b="1" i="0" lang="en-US" sz="1100" u="none" cap="none" strike="noStrike">
                <a:solidFill>
                  <a:srgbClr val="171B1F"/>
                </a:solidFill>
                <a:latin typeface="Arial"/>
                <a:ea typeface="Arial"/>
                <a:cs typeface="Arial"/>
                <a:sym typeface="Arial"/>
              </a:rPr>
              <a:t>дальнейшее развитие строится на данных и feedback пользователей</a:t>
            </a:r>
            <a:r>
              <a:rPr b="1" lang="en-US" sz="1100">
                <a:solidFill>
                  <a:srgbClr val="171B1F"/>
                </a:solidFill>
              </a:rPr>
              <a:t> и запросе бизнеса</a:t>
            </a:r>
            <a:r>
              <a:rPr b="1" i="0" lang="en-US" sz="1100" u="none" cap="none" strike="noStrike">
                <a:solidFill>
                  <a:srgbClr val="171B1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56A6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pic>
        <p:nvPicPr>
          <p:cNvPr id="187" name="Google Shape;187;p21" title="IMAGE 2026-04-20 13:42:08.jpg"/>
          <p:cNvPicPr preferRelativeResize="0"/>
          <p:nvPr/>
        </p:nvPicPr>
        <p:blipFill rotWithShape="1">
          <a:blip r:embed="rId3">
            <a:alphaModFix/>
          </a:blip>
          <a:srcRect b="0" l="0" r="0" t="7236"/>
          <a:stretch/>
        </p:blipFill>
        <p:spPr>
          <a:xfrm>
            <a:off x="292050" y="1926700"/>
            <a:ext cx="5965402" cy="300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6796400" y="2001075"/>
            <a:ext cx="506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6796400" y="1926700"/>
            <a:ext cx="4158600" cy="44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Как работает система сигналов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Портал постоянно анализирует данные и коммуникации и автоматически подсвечивает сотрудникам точки, требующие внимания.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База знаний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Повторяющиеся вопросы → </a:t>
            </a:r>
            <a:r>
              <a:rPr b="1" lang="en-US" sz="1100">
                <a:solidFill>
                  <a:schemeClr val="dk1"/>
                </a:solidFill>
              </a:rPr>
              <a:t>сигнал:</a:t>
            </a:r>
            <a:r>
              <a:rPr lang="en-US" sz="1100">
                <a:solidFill>
                  <a:schemeClr val="dk1"/>
                </a:solidFill>
              </a:rPr>
              <a:t> информации не хватает → задача дополнить базу знаний.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Коммуникации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История диалогов сохраняется и анализируется → </a:t>
            </a:r>
            <a:r>
              <a:rPr b="1" lang="en-US" sz="1100">
                <a:solidFill>
                  <a:schemeClr val="dk1"/>
                </a:solidFill>
              </a:rPr>
              <a:t>сигнал:</a:t>
            </a:r>
            <a:r>
              <a:rPr lang="en-US" sz="1100">
                <a:solidFill>
                  <a:schemeClr val="dk1"/>
                </a:solidFill>
              </a:rPr>
              <a:t> требуется действие / эскалация → задача менеджеру.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Профиль ребёнка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Посещаемость + прогресс + домашние задания + вовлечённость → </a:t>
            </a:r>
            <a:r>
              <a:rPr b="1" lang="en-US" sz="1100">
                <a:solidFill>
                  <a:schemeClr val="dk1"/>
                </a:solidFill>
              </a:rPr>
              <a:t>сигнал:</a:t>
            </a:r>
            <a:r>
              <a:rPr lang="en-US" sz="1100">
                <a:solidFill>
                  <a:schemeClr val="dk1"/>
                </a:solidFill>
              </a:rPr>
              <a:t> ребёнок в зоне риска → менеджер получает задачу до возникновения оттока.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Другие роли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Единый слой данных позволяет расширять систему дальше → </a:t>
            </a:r>
            <a:r>
              <a:rPr b="1" lang="en-US" sz="1100">
                <a:solidFill>
                  <a:schemeClr val="dk1"/>
                </a:solidFill>
              </a:rPr>
              <a:t>контроль нагрузки · контроль качества · повторные продажи · удержание · операционные задачи.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/>
        </p:nvSpPr>
        <p:spPr>
          <a:xfrm>
            <a:off x="2711450" y="718450"/>
            <a:ext cx="93153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71B1F"/>
                </a:solidFill>
                <a:latin typeface="Play"/>
                <a:ea typeface="Play"/>
                <a:cs typeface="Play"/>
                <a:sym typeface="Play"/>
              </a:rPr>
              <a:t>Дмитрий Сазонов</a:t>
            </a:r>
            <a:br>
              <a:rPr b="1" i="0" lang="en-US" sz="3400" u="none" cap="none" strike="noStrike">
                <a:solidFill>
                  <a:srgbClr val="171B1F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i="0" lang="en-US" sz="3400" u="none" cap="none" strike="noStrike">
                <a:solidFill>
                  <a:srgbClr val="171B1F"/>
                </a:solidFill>
                <a:latin typeface="Play"/>
                <a:ea typeface="Play"/>
                <a:cs typeface="Play"/>
                <a:sym typeface="Play"/>
              </a:rPr>
              <a:t>Technical Project Manager </a:t>
            </a:r>
            <a:r>
              <a:rPr b="1" lang="en-US" sz="3400">
                <a:solidFill>
                  <a:srgbClr val="171B1F"/>
                </a:solidFill>
                <a:latin typeface="Play"/>
                <a:ea typeface="Play"/>
                <a:cs typeface="Play"/>
                <a:sym typeface="Play"/>
              </a:rPr>
              <a:t>| ИИ Интегратор</a:t>
            </a:r>
            <a:endParaRPr/>
          </a:p>
        </p:txBody>
      </p:sp>
      <p:pic>
        <p:nvPicPr>
          <p:cNvPr id="195" name="Google Shape;195;p22" title="Снимок экрана — 2026-10-07 в 13.46.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100" y="152400"/>
            <a:ext cx="2413243" cy="22837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/>
          <p:nvPr/>
        </p:nvSpPr>
        <p:spPr>
          <a:xfrm>
            <a:off x="548725" y="2333756"/>
            <a:ext cx="10835700" cy="896100"/>
          </a:xfrm>
          <a:prstGeom prst="roundRect">
            <a:avLst>
              <a:gd fmla="val 16667" name="adj"/>
            </a:avLst>
          </a:prstGeom>
          <a:solidFill>
            <a:srgbClr val="171B1F"/>
          </a:solidFill>
          <a:ln cap="flat" cmpd="sng" w="12700">
            <a:solidFill>
              <a:srgbClr val="171B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777325" y="2534924"/>
            <a:ext cx="1033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Главное правило: не</a:t>
            </a: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автоматизировать существующий хаос, а сначала понять и перепроектировать процесс </a:t>
            </a:r>
            <a:r>
              <a:rPr b="1" lang="en-US" sz="1500">
                <a:solidFill>
                  <a:srgbClr val="FFFFFF"/>
                </a:solidFill>
              </a:rPr>
              <a:t>-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затем собрать решение, которое можно поддерживать и масштабировать.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